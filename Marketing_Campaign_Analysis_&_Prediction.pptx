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1544" y="1084483"/>
            <a:ext cx="7300913" cy="2960219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57313" y="1826568"/>
            <a:ext cx="6429375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8FAF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MARKETING CAMPAIGN ANALYSIS &amp; PREDICTION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1357313" y="3219599"/>
            <a:ext cx="6429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DF8"/>
                </a:solidFill>
                <a:latin typeface="JetBrains+Mono" pitchFamily="34" charset="0"/>
                <a:ea typeface="JetBrains+Mono" pitchFamily="34" charset="-122"/>
                <a:cs typeface="JetBrains+Mono" pitchFamily="34" charset="-120"/>
              </a:rPr>
              <a:t>Customer Behavior Insights &amp; Predictive Modeling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1357313" y="3625007"/>
            <a:ext cx="6429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>
                    <a:alpha val="70000"/>
                  </a:srgbClr>
                </a:solidFill>
                <a:latin typeface="JetBrains+Mono" pitchFamily="34" charset="0"/>
                <a:ea typeface="JetBrains+Mono" pitchFamily="34" charset="-122"/>
                <a:cs typeface="JetBrains+Mono" pitchFamily="34" charset="-120"/>
              </a:rPr>
              <a:t>Advanced Machine Learning Pipeline Project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929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PROJECT OVERVIEW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28713"/>
            <a:ext cx="3914775" cy="2371725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370707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7275" y="1343025"/>
            <a:ext cx="93225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OBJECTIVE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800100" y="1712714"/>
            <a:ext cx="34575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Analyze customer data to understand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behavioral patterns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and predict campaign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responses.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800100" y="2458455"/>
            <a:ext cx="34575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 a robust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Machine Learning Pipeline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for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automated marketing decisions.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657725" y="1128713"/>
            <a:ext cx="3914775" cy="2371725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1370707"/>
            <a:ext cx="150019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2069" y="1343025"/>
            <a:ext cx="7250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DATASET</a:t>
            </a:r>
            <a:endParaRPr lang="en-US" sz="1269" dirty="0"/>
          </a:p>
        </p:txBody>
      </p:sp>
      <p:sp>
        <p:nvSpPr>
          <p:cNvPr id="12" name="Text 7"/>
          <p:cNvSpPr/>
          <p:nvPr/>
        </p:nvSpPr>
        <p:spPr>
          <a:xfrm>
            <a:off x="4886325" y="1712714"/>
            <a:ext cx="34575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2,240 Customers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with 29 unique features.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4886325" y="2047019"/>
            <a:ext cx="34575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Includes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Demographics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Spending Habits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and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Campaign History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942" dirty="0"/>
          </a:p>
        </p:txBody>
      </p:sp>
      <p:sp>
        <p:nvSpPr>
          <p:cNvPr id="14" name="Text 9"/>
          <p:cNvSpPr/>
          <p:nvPr/>
        </p:nvSpPr>
        <p:spPr>
          <a:xfrm>
            <a:off x="4886325" y="2587042"/>
            <a:ext cx="34575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Target: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(Binary classification).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EXPLORATION &amp; CLEANING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28713"/>
            <a:ext cx="3857625" cy="28575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 PROFILE</a:t>
            </a:r>
            <a:endParaRPr lang="en-US" sz="1159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77876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1525" y="1557338"/>
            <a:ext cx="261104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Education: Graduation, PhD, Master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54696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1525" y="1834158"/>
            <a:ext cx="253424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Status: Single, Married, Together</a:t>
            </a:r>
            <a:endParaRPr lang="en-US" sz="94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31516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71525" y="2110978"/>
            <a:ext cx="268783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Income: High variance (up to $666k)</a:t>
            </a:r>
            <a:endParaRPr lang="en-US" sz="942" dirty="0"/>
          </a:p>
        </p:txBody>
      </p:sp>
      <p:sp>
        <p:nvSpPr>
          <p:cNvPr id="11" name="Text 5"/>
          <p:cNvSpPr/>
          <p:nvPr/>
        </p:nvSpPr>
        <p:spPr>
          <a:xfrm>
            <a:off x="571500" y="2387798"/>
            <a:ext cx="3857625" cy="500063"/>
          </a:xfrm>
          <a:prstGeom prst="rect">
            <a:avLst/>
          </a:prstGeom>
          <a:noFill/>
          <a:ln/>
        </p:spPr>
        <p:txBody>
          <a:bodyPr wrap="square" lIns="0" tIns="255143" rIns="0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SPENDING CATEGORIES</a:t>
            </a:r>
            <a:endParaRPr lang="en-US" sz="1159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51274"/>
            <a:ext cx="80367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23305" y="3030736"/>
            <a:ext cx="107513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Wines &amp; Fruits</a:t>
            </a:r>
            <a:endParaRPr lang="en-US" sz="942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28095"/>
            <a:ext cx="128588" cy="1285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71525" y="3307556"/>
            <a:ext cx="84474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Meat &amp; Fish</a:t>
            </a:r>
            <a:endParaRPr lang="en-US" sz="942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04915"/>
            <a:ext cx="128588" cy="12858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71525" y="3584377"/>
            <a:ext cx="99833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Gold &amp; Sweets</a:t>
            </a:r>
            <a:endParaRPr lang="en-US" sz="942" dirty="0"/>
          </a:p>
        </p:txBody>
      </p:sp>
      <p:sp>
        <p:nvSpPr>
          <p:cNvPr id="18" name="Text 9"/>
          <p:cNvSpPr/>
          <p:nvPr/>
        </p:nvSpPr>
        <p:spPr>
          <a:xfrm>
            <a:off x="4714875" y="1128713"/>
            <a:ext cx="3857625" cy="28575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QUALITY AUDIT</a:t>
            </a:r>
            <a:endParaRPr lang="en-US" sz="1159" dirty="0"/>
          </a:p>
        </p:txBody>
      </p:sp>
      <p:sp>
        <p:nvSpPr>
          <p:cNvPr id="19" name="Shape 10"/>
          <p:cNvSpPr/>
          <p:nvPr/>
        </p:nvSpPr>
        <p:spPr>
          <a:xfrm>
            <a:off x="4718447" y="1560909"/>
            <a:ext cx="1234027" cy="328613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4718447" y="1560909"/>
            <a:ext cx="123402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</a:t>
            </a:r>
            <a:endParaRPr lang="en-US" sz="784" dirty="0"/>
          </a:p>
        </p:txBody>
      </p:sp>
      <p:sp>
        <p:nvSpPr>
          <p:cNvPr id="21" name="Shape 12"/>
          <p:cNvSpPr/>
          <p:nvPr/>
        </p:nvSpPr>
        <p:spPr>
          <a:xfrm>
            <a:off x="5952474" y="1560909"/>
            <a:ext cx="1011427" cy="328613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5952474" y="1560909"/>
            <a:ext cx="101142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784" dirty="0"/>
          </a:p>
        </p:txBody>
      </p:sp>
      <p:sp>
        <p:nvSpPr>
          <p:cNvPr id="23" name="Shape 14"/>
          <p:cNvSpPr/>
          <p:nvPr/>
        </p:nvSpPr>
        <p:spPr>
          <a:xfrm>
            <a:off x="6963901" y="1560909"/>
            <a:ext cx="1605028" cy="328613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6963901" y="1560909"/>
            <a:ext cx="1605028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</a:t>
            </a:r>
            <a:endParaRPr lang="en-US" sz="784" dirty="0"/>
          </a:p>
        </p:txBody>
      </p:sp>
      <p:sp>
        <p:nvSpPr>
          <p:cNvPr id="25" name="Text 16"/>
          <p:cNvSpPr/>
          <p:nvPr/>
        </p:nvSpPr>
        <p:spPr>
          <a:xfrm>
            <a:off x="4718447" y="1882378"/>
            <a:ext cx="123402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Missing Values</a:t>
            </a:r>
            <a:endParaRPr lang="en-US" sz="834" dirty="0"/>
          </a:p>
        </p:txBody>
      </p:sp>
      <p:sp>
        <p:nvSpPr>
          <p:cNvPr id="26" name="Text 17"/>
          <p:cNvSpPr/>
          <p:nvPr/>
        </p:nvSpPr>
        <p:spPr>
          <a:xfrm>
            <a:off x="5952474" y="1882378"/>
            <a:ext cx="101142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(Income)</a:t>
            </a:r>
            <a:endParaRPr lang="en-US" sz="834" dirty="0"/>
          </a:p>
        </p:txBody>
      </p:sp>
      <p:sp>
        <p:nvSpPr>
          <p:cNvPr id="27" name="Text 18"/>
          <p:cNvSpPr/>
          <p:nvPr/>
        </p:nvSpPr>
        <p:spPr>
          <a:xfrm>
            <a:off x="6963901" y="1882378"/>
            <a:ext cx="1605028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Median Imputation</a:t>
            </a:r>
            <a:endParaRPr lang="en-US" sz="834" dirty="0"/>
          </a:p>
        </p:txBody>
      </p:sp>
      <p:sp>
        <p:nvSpPr>
          <p:cNvPr id="28" name="Text 19"/>
          <p:cNvSpPr/>
          <p:nvPr/>
        </p:nvSpPr>
        <p:spPr>
          <a:xfrm>
            <a:off x="4718447" y="2210991"/>
            <a:ext cx="123402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Duplicates</a:t>
            </a:r>
            <a:endParaRPr lang="en-US" sz="834" dirty="0"/>
          </a:p>
        </p:txBody>
      </p:sp>
      <p:sp>
        <p:nvSpPr>
          <p:cNvPr id="29" name="Text 20"/>
          <p:cNvSpPr/>
          <p:nvPr/>
        </p:nvSpPr>
        <p:spPr>
          <a:xfrm>
            <a:off x="5952474" y="2210991"/>
            <a:ext cx="101142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834" dirty="0"/>
          </a:p>
        </p:txBody>
      </p:sp>
      <p:sp>
        <p:nvSpPr>
          <p:cNvPr id="30" name="Text 21"/>
          <p:cNvSpPr/>
          <p:nvPr/>
        </p:nvSpPr>
        <p:spPr>
          <a:xfrm>
            <a:off x="6963901" y="2210991"/>
            <a:ext cx="1605028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 required</a:t>
            </a:r>
            <a:endParaRPr lang="en-US" sz="834" dirty="0"/>
          </a:p>
        </p:txBody>
      </p:sp>
      <p:sp>
        <p:nvSpPr>
          <p:cNvPr id="31" name="Text 22"/>
          <p:cNvSpPr/>
          <p:nvPr/>
        </p:nvSpPr>
        <p:spPr>
          <a:xfrm>
            <a:off x="4718447" y="2539603"/>
            <a:ext cx="123402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Outliers</a:t>
            </a:r>
            <a:endParaRPr lang="en-US" sz="834" dirty="0"/>
          </a:p>
        </p:txBody>
      </p:sp>
      <p:sp>
        <p:nvSpPr>
          <p:cNvPr id="32" name="Text 23"/>
          <p:cNvSpPr/>
          <p:nvPr/>
        </p:nvSpPr>
        <p:spPr>
          <a:xfrm>
            <a:off x="5952474" y="2539603"/>
            <a:ext cx="1011427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Detected</a:t>
            </a:r>
            <a:endParaRPr lang="en-US" sz="834" dirty="0"/>
          </a:p>
        </p:txBody>
      </p:sp>
      <p:sp>
        <p:nvSpPr>
          <p:cNvPr id="33" name="Text 24"/>
          <p:cNvSpPr/>
          <p:nvPr/>
        </p:nvSpPr>
        <p:spPr>
          <a:xfrm>
            <a:off x="6963901" y="2539603"/>
            <a:ext cx="1605028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Handled in pipeline</a:t>
            </a:r>
            <a:endParaRPr lang="en-US" sz="834" dirty="0"/>
          </a:p>
        </p:txBody>
      </p:sp>
      <p:sp>
        <p:nvSpPr>
          <p:cNvPr id="34" name="Text 25"/>
          <p:cNvSpPr/>
          <p:nvPr/>
        </p:nvSpPr>
        <p:spPr>
          <a:xfrm>
            <a:off x="4714875" y="2871788"/>
            <a:ext cx="3857625" cy="557213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Feature engineering was used to derive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and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 Tenure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for better predictive power.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FEATURE ENGINEERING &amp; SELECTION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271588"/>
            <a:ext cx="2524116" cy="3086100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609841" y="1378744"/>
            <a:ext cx="34290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38BDF8">
                    <a:alpha val="1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1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509117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406" y="1485900"/>
            <a:ext cx="6858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50094" y="1853803"/>
            <a:ext cx="339328" cy="217884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0094" y="1853803"/>
            <a:ext cx="339328" cy="21788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750094" y="2235994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Derived from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Year_Birth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life-stage influence.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750094" y="2686050"/>
            <a:ext cx="1067991" cy="217884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50094" y="2686050"/>
            <a:ext cx="1067991" cy="217884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Customer_Tenure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750094" y="3068241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Calculated from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Dt_Customer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measure loyalty duration.</a:t>
            </a:r>
            <a:endParaRPr lang="en-US" sz="834" dirty="0"/>
          </a:p>
        </p:txBody>
      </p:sp>
      <p:sp>
        <p:nvSpPr>
          <p:cNvPr id="14" name="Shape 10"/>
          <p:cNvSpPr/>
          <p:nvPr/>
        </p:nvSpPr>
        <p:spPr>
          <a:xfrm>
            <a:off x="3309928" y="1271588"/>
            <a:ext cx="2524116" cy="3086100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48269" y="1378744"/>
            <a:ext cx="34290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38BDF8">
                    <a:alpha val="1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16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522" y="1509117"/>
            <a:ext cx="178594" cy="1428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38553" y="1485900"/>
            <a:ext cx="11144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488522" y="1853803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Numerical: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StandardScaler for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distance-based variance.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3488522" y="2303859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Categorical: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One-Hot Encoding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Education &amp; Marital Status.</a:t>
            </a:r>
            <a:endParaRPr lang="en-US" sz="834" dirty="0"/>
          </a:p>
        </p:txBody>
      </p:sp>
      <p:sp>
        <p:nvSpPr>
          <p:cNvPr id="20" name="Text 15"/>
          <p:cNvSpPr/>
          <p:nvPr/>
        </p:nvSpPr>
        <p:spPr>
          <a:xfrm>
            <a:off x="3488522" y="2753916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Imputation: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Median strategy for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missing Income values.</a:t>
            </a:r>
            <a:endParaRPr lang="en-US" sz="834" dirty="0"/>
          </a:p>
        </p:txBody>
      </p:sp>
      <p:sp>
        <p:nvSpPr>
          <p:cNvPr id="21" name="Shape 16"/>
          <p:cNvSpPr/>
          <p:nvPr/>
        </p:nvSpPr>
        <p:spPr>
          <a:xfrm>
            <a:off x="6048356" y="1271588"/>
            <a:ext cx="2524144" cy="3086100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86725" y="1378744"/>
            <a:ext cx="34290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38BDF8">
                    <a:alpha val="1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16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950" y="1509117"/>
            <a:ext cx="142875" cy="1428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41263" y="1485900"/>
            <a:ext cx="7715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SELECTION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226950" y="1853803"/>
            <a:ext cx="21669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Utilized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SelectKBest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with ANOVA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F-value scoring.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6226950" y="2303859"/>
            <a:ext cx="21669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Identified all features for prediction.</a:t>
            </a:r>
            <a:endParaRPr lang="en-US" sz="834" dirty="0"/>
          </a:p>
        </p:txBody>
      </p:sp>
      <p:sp>
        <p:nvSpPr>
          <p:cNvPr id="27" name="Text 21"/>
          <p:cNvSpPr/>
          <p:nvPr/>
        </p:nvSpPr>
        <p:spPr>
          <a:xfrm>
            <a:off x="6226950" y="2753916"/>
            <a:ext cx="21669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Reduced noise and improved model generalization.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ADDRESSING CLASS IMBALANCE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28713"/>
            <a:ext cx="3857625" cy="1800225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68028"/>
            <a:ext cx="157163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700" y="1343025"/>
            <a:ext cx="104120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1159" dirty="0"/>
          </a:p>
        </p:txBody>
      </p:sp>
      <p:sp>
        <p:nvSpPr>
          <p:cNvPr id="7" name="Text 3"/>
          <p:cNvSpPr/>
          <p:nvPr/>
        </p:nvSpPr>
        <p:spPr>
          <a:xfrm>
            <a:off x="785813" y="1693069"/>
            <a:ext cx="34290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Marketing response data is naturally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imbalanced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 Most customers do not respond,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leading the model to ignore the minority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"Yes" class.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785813" y="2587377"/>
            <a:ext cx="1339453" cy="203597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5813" y="2587377"/>
            <a:ext cx="1339453" cy="203597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Skewed Distribution</a:t>
            </a:r>
            <a:endParaRPr lang="en-US" sz="727" dirty="0"/>
          </a:p>
        </p:txBody>
      </p:sp>
      <p:sp>
        <p:nvSpPr>
          <p:cNvPr id="10" name="Shape 6"/>
          <p:cNvSpPr/>
          <p:nvPr/>
        </p:nvSpPr>
        <p:spPr>
          <a:xfrm>
            <a:off x="571500" y="3128963"/>
            <a:ext cx="3857625" cy="1800225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3368278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8700" y="3343275"/>
            <a:ext cx="179843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SOLUTION: SMOTE</a:t>
            </a:r>
            <a:endParaRPr lang="en-US" sz="1159" dirty="0"/>
          </a:p>
        </p:txBody>
      </p:sp>
      <p:sp>
        <p:nvSpPr>
          <p:cNvPr id="13" name="Text 8"/>
          <p:cNvSpPr/>
          <p:nvPr/>
        </p:nvSpPr>
        <p:spPr>
          <a:xfrm>
            <a:off x="785813" y="3693319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Minority Over-sampling Technique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creates synthetic examples of the minority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rather than just duplicating them.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785813" y="4381909"/>
            <a:ext cx="1339453" cy="203597"/>
          </a:xfrm>
          <a:prstGeom prst="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85813" y="4381909"/>
            <a:ext cx="1339453" cy="203597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Advanced Resampling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4714875" y="1128713"/>
            <a:ext cx="3857625" cy="2657475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38BDF8">
                <a:alpha val="1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57750" y="1271588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Distribution: Before vs After SMOTE</a:t>
            </a:r>
            <a:endParaRPr lang="en-US" sz="83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528763"/>
            <a:ext cx="3557588" cy="200025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977283"/>
            <a:ext cx="114300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7041" y="3961209"/>
            <a:ext cx="4750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Result:</a:t>
            </a:r>
            <a:endParaRPr lang="en-US" sz="784" dirty="0"/>
          </a:p>
        </p:txBody>
      </p:sp>
      <p:sp>
        <p:nvSpPr>
          <p:cNvPr id="21" name="Text 14"/>
          <p:cNvSpPr/>
          <p:nvPr/>
        </p:nvSpPr>
        <p:spPr>
          <a:xfrm>
            <a:off x="5372100" y="3961209"/>
            <a:ext cx="25110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Improved model sensitivity to actual</a:t>
            </a:r>
            <a:endParaRPr lang="en-US" sz="834" dirty="0"/>
          </a:p>
        </p:txBody>
      </p:sp>
      <p:sp>
        <p:nvSpPr>
          <p:cNvPr id="22" name="Text 15"/>
          <p:cNvSpPr/>
          <p:nvPr/>
        </p:nvSpPr>
        <p:spPr>
          <a:xfrm>
            <a:off x="4714875" y="4132659"/>
            <a:ext cx="19002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responders, ensuring higher</a:t>
            </a:r>
            <a:endParaRPr lang="en-US" sz="834" dirty="0"/>
          </a:p>
        </p:txBody>
      </p:sp>
      <p:sp>
        <p:nvSpPr>
          <p:cNvPr id="23" name="Text 16"/>
          <p:cNvSpPr/>
          <p:nvPr/>
        </p:nvSpPr>
        <p:spPr>
          <a:xfrm>
            <a:off x="6615113" y="4132659"/>
            <a:ext cx="4071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Recall</a:t>
            </a:r>
            <a:endParaRPr lang="en-US" sz="834" dirty="0"/>
          </a:p>
        </p:txBody>
      </p:sp>
      <p:sp>
        <p:nvSpPr>
          <p:cNvPr id="24" name="Text 17"/>
          <p:cNvSpPr/>
          <p:nvPr/>
        </p:nvSpPr>
        <p:spPr>
          <a:xfrm>
            <a:off x="7022306" y="4132659"/>
            <a:ext cx="3393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</a:t>
            </a:r>
            <a:endParaRPr lang="en-US" sz="834" dirty="0"/>
          </a:p>
        </p:txBody>
      </p:sp>
      <p:sp>
        <p:nvSpPr>
          <p:cNvPr id="25" name="Text 18"/>
          <p:cNvSpPr/>
          <p:nvPr/>
        </p:nvSpPr>
        <p:spPr>
          <a:xfrm>
            <a:off x="7361634" y="4132659"/>
            <a:ext cx="5429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F1-Score</a:t>
            </a:r>
            <a:endParaRPr lang="en-US" sz="834" dirty="0"/>
          </a:p>
        </p:txBody>
      </p:sp>
      <p:sp>
        <p:nvSpPr>
          <p:cNvPr id="26" name="Text 19"/>
          <p:cNvSpPr/>
          <p:nvPr/>
        </p:nvSpPr>
        <p:spPr>
          <a:xfrm>
            <a:off x="7904559" y="4132659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MACHINE LEARNING PIPELINE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414463"/>
            <a:ext cx="1964531" cy="2514600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628775"/>
            <a:ext cx="16787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</a:t>
            </a:r>
            <a:endParaRPr lang="en-US" sz="727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97" y="1909167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387798"/>
            <a:ext cx="16787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Preprocessing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71500" y="2684264"/>
            <a:ext cx="1678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ColumnTransformer handles Numerical scaling and Categorical One-Hot Encoding.</a:t>
            </a:r>
            <a:endParaRPr lang="en-US" sz="72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016" y="2693194"/>
            <a:ext cx="89297" cy="14287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36031" y="1414463"/>
            <a:ext cx="1964531" cy="2514600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678906" y="1628775"/>
            <a:ext cx="16787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</a:t>
            </a:r>
            <a:endParaRPr lang="en-US" sz="727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703" y="1909167"/>
            <a:ext cx="357188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78906" y="2387798"/>
            <a:ext cx="16787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SMOTE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2678906" y="2684264"/>
            <a:ext cx="1678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Minority Over-sampling to address class imbalance in marketing responses.</a:t>
            </a:r>
            <a:endParaRPr lang="en-US" sz="727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422" y="2693194"/>
            <a:ext cx="89297" cy="14287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643438" y="1414463"/>
            <a:ext cx="1964531" cy="2514600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4786313" y="1628775"/>
            <a:ext cx="16787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</a:t>
            </a:r>
            <a:endParaRPr lang="en-US" sz="727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2828" y="1909167"/>
            <a:ext cx="285750" cy="2857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86313" y="2387798"/>
            <a:ext cx="16787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Selection</a:t>
            </a:r>
            <a:endParaRPr lang="en-US" sz="987" dirty="0"/>
          </a:p>
        </p:txBody>
      </p:sp>
      <p:sp>
        <p:nvSpPr>
          <p:cNvPr id="20" name="Text 12"/>
          <p:cNvSpPr/>
          <p:nvPr/>
        </p:nvSpPr>
        <p:spPr>
          <a:xfrm>
            <a:off x="4786313" y="2684264"/>
            <a:ext cx="1678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SelectKBest identifies the top 10 most influential features using ANOVA F-value.</a:t>
            </a:r>
            <a:endParaRPr lang="en-US" sz="727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5828" y="2693194"/>
            <a:ext cx="89297" cy="142875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6750844" y="1414463"/>
            <a:ext cx="1964531" cy="2514600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6893719" y="1628775"/>
            <a:ext cx="16787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2" kern="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</a:t>
            </a:r>
            <a:endParaRPr lang="en-US" sz="727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0234" y="1909167"/>
            <a:ext cx="285750" cy="28575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93719" y="2387798"/>
            <a:ext cx="16787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Classification</a:t>
            </a:r>
            <a:endParaRPr lang="en-US" sz="987" dirty="0"/>
          </a:p>
        </p:txBody>
      </p:sp>
      <p:sp>
        <p:nvSpPr>
          <p:cNvPr id="26" name="Text 16"/>
          <p:cNvSpPr/>
          <p:nvPr/>
        </p:nvSpPr>
        <p:spPr>
          <a:xfrm>
            <a:off x="6893719" y="2684264"/>
            <a:ext cx="1678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RandomForestClassifier serves as the core predictive engine for campaign response.</a:t>
            </a:r>
            <a:endParaRPr lang="en-US" sz="727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359473"/>
            <a:ext cx="114300" cy="1143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85800" y="4343400"/>
            <a:ext cx="58364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ImbPipeline ensures zero data leakage and consistent transformation across folds.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 PERFORMANCE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271588"/>
            <a:ext cx="3800782" cy="3293269"/>
          </a:xfrm>
          <a:prstGeom prst="rect">
            <a:avLst/>
          </a:prstGeom>
          <a:solidFill>
            <a:srgbClr val="0F172A">
              <a:alpha val="80000"/>
            </a:srgbClr>
          </a:solidFill>
          <a:ln w="9144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700213"/>
            <a:ext cx="3786494" cy="864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513" dirty="0">
                <a:solidFill>
                  <a:srgbClr val="38BDF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90.18%</a:t>
            </a:r>
            <a:endParaRPr lang="en-US" sz="5513" dirty="0"/>
          </a:p>
        </p:txBody>
      </p:sp>
      <p:sp>
        <p:nvSpPr>
          <p:cNvPr id="6" name="Text 3"/>
          <p:cNvSpPr/>
          <p:nvPr/>
        </p:nvSpPr>
        <p:spPr>
          <a:xfrm>
            <a:off x="571500" y="2636044"/>
            <a:ext cx="378649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 ACCURACY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7215" y="1268373"/>
            <a:ext cx="3786494" cy="435769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Set Evaluation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993788" y="1450181"/>
            <a:ext cx="357871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Algorithm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4993788" y="1728788"/>
            <a:ext cx="357871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Gradient Boosting Classifier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within an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automated Imbalanced Pipeline.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993788" y="2436019"/>
            <a:ext cx="357871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Success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4993788" y="2714625"/>
            <a:ext cx="3578712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Successfully identifies high-potential customers by analyzing spending and demographics.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993788" y="3614738"/>
            <a:ext cx="357871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Reliability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4993788" y="3893344"/>
            <a:ext cx="357871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Robust performance across diverse customer segments with minimal overfitting.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RECOMMENDATIONS &amp; CONCLUSION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56395"/>
            <a:ext cx="128588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7244" y="1128713"/>
            <a:ext cx="17609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Strategy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571500" y="1534120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High-Spenders: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Focus on segments with high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spending in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Wines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and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Meat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for better conversion.</a:t>
            </a:r>
            <a:endParaRPr lang="en-US" sz="942" dirty="0"/>
          </a:p>
        </p:txBody>
      </p:sp>
      <p:sp>
        <p:nvSpPr>
          <p:cNvPr id="7" name="Text 3"/>
          <p:cNvSpPr/>
          <p:nvPr/>
        </p:nvSpPr>
        <p:spPr>
          <a:xfrm>
            <a:off x="571500" y="2159868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 Prioritization: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 the model to rank leads,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reducing marketing costs by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targeting likely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responders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571500" y="2991334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Retention: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Monitor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Recency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and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Tenure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 re-engage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customers before they churn.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156395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93481" y="1128713"/>
            <a:ext cx="1450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Roadmap</a:t>
            </a:r>
            <a:endParaRPr lang="en-US" sz="1269" dirty="0"/>
          </a:p>
        </p:txBody>
      </p:sp>
      <p:sp>
        <p:nvSpPr>
          <p:cNvPr id="11" name="Shape 6"/>
          <p:cNvSpPr/>
          <p:nvPr/>
        </p:nvSpPr>
        <p:spPr>
          <a:xfrm>
            <a:off x="4714875" y="1534120"/>
            <a:ext cx="3857625" cy="2014538"/>
          </a:xfrm>
          <a:prstGeom prst="rect">
            <a:avLst/>
          </a:prstGeom>
          <a:solidFill>
            <a:srgbClr val="1E293B">
              <a:alpha val="30000"/>
            </a:srgbClr>
          </a:solidFill>
          <a:ln w="9144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784152"/>
            <a:ext cx="128588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57775" y="1766292"/>
            <a:ext cx="284142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Hyperparameter tuning for precision.</a:t>
            </a:r>
            <a:endParaRPr lang="en-US" sz="94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204182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57775" y="2186322"/>
            <a:ext cx="215026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Testing XGBoost &amp; LightGBM.</a:t>
            </a:r>
            <a:endParaRPr lang="en-US" sz="942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2624212"/>
            <a:ext cx="128588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57775" y="2606353"/>
            <a:ext cx="199667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Real-time API deployment.</a:t>
            </a:r>
            <a:endParaRPr lang="en-US" sz="942" dirty="0"/>
          </a:p>
        </p:txBody>
      </p:sp>
      <p:sp>
        <p:nvSpPr>
          <p:cNvPr id="18" name="Text 10"/>
          <p:cNvSpPr/>
          <p:nvPr/>
        </p:nvSpPr>
        <p:spPr>
          <a:xfrm>
            <a:off x="4714875" y="3534370"/>
            <a:ext cx="3857625" cy="435769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8BDF8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Completed Successfully | Accuracy: 84.82%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2026-02-27T16:15:47Z</dcterms:created>
  <dcterms:modified xsi:type="dcterms:W3CDTF">2026-02-27T16:15:47Z</dcterms:modified>
</cp:coreProperties>
</file>